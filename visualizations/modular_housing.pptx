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32692829e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g3932692829e_2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932692829e_2_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32692829e_2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g3932692829e_2_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932692829e_2_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932692829e_2_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932692829e_2_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932692829e_2_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5F5D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D5F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8BA888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D4A574">
              <a:alpha val="98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91440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org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Modular Housing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FE6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F5EFE6"/>
                </a:solidFill>
                <a:latin typeface="Calibri"/>
                <a:ea typeface="Calibri"/>
                <a:cs typeface="Calibri"/>
                <a:sym typeface="Calibri"/>
              </a:rPr>
              <a:t>Market Analysis &amp; Solvency Scoping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3200400" y="3657600"/>
            <a:ext cx="27432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EFE6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F5EFE6"/>
                </a:solidFill>
                <a:latin typeface="Calibri"/>
                <a:ea typeface="Calibri"/>
                <a:cs typeface="Calibri"/>
                <a:sym typeface="Calibri"/>
              </a:rPr>
              <a:t>Identifying Affordable Zones for Social Mobility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Context &amp; Core Hypothesis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457200" y="1280160"/>
            <a:ext cx="393192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solidFill>
            <a:srgbClr val="E8B4B8">
              <a:alpha val="6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17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/>
          <p:nvPr/>
        </p:nvSpPr>
        <p:spPr>
          <a:xfrm>
            <a:off x="1188720" y="14630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The Housing Challenge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31520" y="192024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Low-income households face a critical affordability crisis. Traditional rental markets consume disproportionate shares of income, leaving minimal disposable funds and limiting financial mobility.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731520" y="3017520"/>
            <a:ext cx="3383280" cy="109728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731520" y="32004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2D5F5D"/>
                </a:solidFill>
                <a:latin typeface="Calibri"/>
                <a:ea typeface="Calibri"/>
                <a:cs typeface="Calibri"/>
                <a:sym typeface="Calibri"/>
              </a:rPr>
              <a:t>Disposable Income</a:t>
            </a:r>
            <a:endParaRPr b="0" i="0" sz="1300" u="none" cap="none" strike="noStrike">
              <a:solidFill>
                <a:srgbClr val="2D5F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731520" y="34747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Significantly Reduced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754880" y="1280160"/>
            <a:ext cx="393192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solidFill>
            <a:srgbClr val="8BA888">
              <a:alpha val="6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417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4"/>
          <p:cNvSpPr/>
          <p:nvPr/>
        </p:nvSpPr>
        <p:spPr>
          <a:xfrm>
            <a:off x="5286950" y="1348738"/>
            <a:ext cx="332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Our Solution</a:t>
            </a:r>
            <a:r>
              <a:rPr b="1" lang="en-US" sz="1800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b="1" i="0" lang="en-US" sz="18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Hypothesis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5029200" y="192024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Modular housing ownership through Tiny Houses and Container homes can significantly increase household left-to-live income compared to traditional rental arrangements, while maintaining responsible 30% debt-to-income ratios.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029200" y="3017520"/>
            <a:ext cx="3383280" cy="1097280"/>
          </a:xfrm>
          <a:prstGeom prst="rect">
            <a:avLst/>
          </a:prstGeom>
          <a:solidFill>
            <a:srgbClr val="D4A574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5029200" y="32004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2D5F5D"/>
                </a:solidFill>
                <a:latin typeface="Calibri"/>
                <a:ea typeface="Calibri"/>
                <a:cs typeface="Calibri"/>
                <a:sym typeface="Calibri"/>
              </a:rPr>
              <a:t>Target Land Cost</a:t>
            </a:r>
            <a:endParaRPr b="0" i="0" sz="1300" u="none" cap="none" strike="noStrike">
              <a:solidFill>
                <a:srgbClr val="2D5F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029200" y="34747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574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≤ </a:t>
            </a:r>
            <a:r>
              <a:rPr b="1" lang="en-US" sz="1800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€50</a:t>
            </a:r>
            <a:r>
              <a:rPr b="1" i="0" lang="en-US" sz="24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/m²</a:t>
            </a:r>
            <a:endParaRPr b="0" i="0" sz="2400" u="none" cap="none" strike="noStrike">
              <a:solidFill>
                <a:srgbClr val="2D5F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Data Foundation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457200" y="128016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5" name="Google Shape;5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5"/>
          <p:cNvSpPr/>
          <p:nvPr/>
        </p:nvSpPr>
        <p:spPr>
          <a:xfrm>
            <a:off x="1371600" y="16459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DVF Database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1371600" y="19202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Property Transactions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731520" y="2377440"/>
            <a:ext cx="3383280" cy="91440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731520" y="25603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18,000,000+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731520" y="3154680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D5F5D"/>
                </a:solidFill>
                <a:latin typeface="Calibri"/>
                <a:ea typeface="Calibri"/>
                <a:cs typeface="Calibri"/>
                <a:sym typeface="Calibri"/>
              </a:rPr>
              <a:t>Nationwide Records</a:t>
            </a:r>
            <a:endParaRPr b="0" i="0" sz="1200" u="none" cap="none" strike="noStrike">
              <a:solidFill>
                <a:srgbClr val="2D5F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731520" y="356616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Land prices &amp; characteristics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Parcel-level granularity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Optimized variables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754880" y="1280160"/>
            <a:ext cx="39319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554480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/>
          <p:nvPr/>
        </p:nvSpPr>
        <p:spPr>
          <a:xfrm>
            <a:off x="5669280" y="164592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INSEE &amp; BPE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669280" y="1920240"/>
            <a:ext cx="2560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Demographics &amp; Services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029200" y="2377440"/>
            <a:ext cx="3383280" cy="914400"/>
          </a:xfrm>
          <a:prstGeom prst="rect">
            <a:avLst/>
          </a:prstGeom>
          <a:solidFill>
            <a:srgbClr val="8BA88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5029200" y="2560320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888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35,000+</a:t>
            </a:r>
            <a:endParaRPr b="0" i="0" sz="3600" u="none" cap="none" strike="noStrike">
              <a:solidFill>
                <a:srgbClr val="2D5F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5029200" y="3154680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D5F5D"/>
                </a:solidFill>
                <a:latin typeface="Calibri"/>
                <a:ea typeface="Calibri"/>
                <a:cs typeface="Calibri"/>
                <a:sym typeface="Calibri"/>
              </a:rPr>
              <a:t>Geographic Codes</a:t>
            </a:r>
            <a:endParaRPr b="0" i="0" sz="1200" u="none" cap="none" strike="noStrike">
              <a:solidFill>
                <a:srgbClr val="2D5F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029200" y="356616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Income &amp; demographic data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Service infrastructure mapping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100% national coverage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Strategic Land Categorization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7" name="Google Shape;7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887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/>
          <p:nvPr/>
        </p:nvSpPr>
        <p:spPr>
          <a:xfrm>
            <a:off x="1097280" y="1234440"/>
            <a:ext cx="7589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5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Focus on Nature Culture codes with optimal acquisition costs while maintaining buildability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457200" y="182880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457200" y="1828800"/>
            <a:ext cx="45720" cy="777240"/>
          </a:xfrm>
          <a:prstGeom prst="rect">
            <a:avLst/>
          </a:prstGeom>
          <a:solidFill>
            <a:srgbClr val="E8B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731520" y="19659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Micro-Plots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731520" y="224028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4B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B4B8"/>
                </a:solidFill>
                <a:latin typeface="Calibri"/>
                <a:ea typeface="Calibri"/>
                <a:cs typeface="Calibri"/>
                <a:sym typeface="Calibri"/>
              </a:rPr>
              <a:t>&lt; 50m²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2926080" y="205740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Urban solutions for single young workers prioritizing mobility and social connectivity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57200" y="274320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457200" y="2743200"/>
            <a:ext cx="45720" cy="777240"/>
          </a:xfrm>
          <a:prstGeom prst="rect">
            <a:avLst/>
          </a:prstGeom>
          <a:solidFill>
            <a:srgbClr val="8BA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731520" y="28803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Standard Plots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731520" y="315468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8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8BA888"/>
                </a:solidFill>
                <a:latin typeface="Calibri"/>
                <a:ea typeface="Calibri"/>
                <a:cs typeface="Calibri"/>
                <a:sym typeface="Calibri"/>
              </a:rPr>
              <a:t>50m² - 5,000m²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2926080" y="297180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Classical modular housing projects suitable for families and couples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7200" y="3657600"/>
            <a:ext cx="45720" cy="77724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731520" y="379476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Large Estates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731520" y="4069080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A57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4A574"/>
                </a:solidFill>
                <a:latin typeface="Calibri"/>
                <a:ea typeface="Calibri"/>
                <a:cs typeface="Calibri"/>
                <a:sym typeface="Calibri"/>
              </a:rPr>
              <a:t>&gt; 5,000m²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2926080" y="388620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1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Collective projects enabling eco-villages and community-based solutions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Statistical Methodology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1" name="Google Shape;101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88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7"/>
          <p:cNvSpPr/>
          <p:nvPr/>
        </p:nvSpPr>
        <p:spPr>
          <a:xfrm>
            <a:off x="1188720" y="1280160"/>
            <a:ext cx="7498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Ensuring data integrity and analytical rigor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457200" y="1737360"/>
            <a:ext cx="45720" cy="685800"/>
          </a:xfrm>
          <a:prstGeom prst="rect">
            <a:avLst/>
          </a:prstGeom>
          <a:solidFill>
            <a:srgbClr val="2D5F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85800" y="19202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01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280160" y="184708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3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Geographical Granularity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280160" y="2103120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Municipality-level analysis prioritized for sufficient transaction volumes and statistical significance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457200" y="2560320"/>
            <a:ext cx="45720" cy="685800"/>
          </a:xfrm>
          <a:prstGeom prst="rect">
            <a:avLst/>
          </a:prstGeom>
          <a:solidFill>
            <a:srgbClr val="8BA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685800" y="274320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888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8BA888"/>
                </a:solidFill>
                <a:latin typeface="Georgia"/>
                <a:ea typeface="Georgia"/>
                <a:cs typeface="Georgia"/>
                <a:sym typeface="Georgia"/>
              </a:rPr>
              <a:t>02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280160" y="267004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3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Median Pricing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1280160" y="2926080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Median values used to neutralize outliers and data entry errors, ensuring realistic cost estimates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57200" y="3383280"/>
            <a:ext cx="45720" cy="685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85800" y="356616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574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D4A574"/>
                </a:solidFill>
                <a:latin typeface="Georgia"/>
                <a:ea typeface="Georgia"/>
                <a:cs typeface="Georgia"/>
                <a:sym typeface="Georgia"/>
              </a:rPr>
              <a:t>03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280160" y="349300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3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Reliability Threshold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280160" y="3749040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Minimum 5 transactions per segment required to prevent aberrant single-case pricing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457200" y="4206240"/>
            <a:ext cx="45720" cy="685800"/>
          </a:xfrm>
          <a:prstGeom prst="rect">
            <a:avLst/>
          </a:prstGeom>
          <a:solidFill>
            <a:srgbClr val="E8B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685800" y="43891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4B8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E8B4B8"/>
                </a:solidFill>
                <a:latin typeface="Georgia"/>
                <a:ea typeface="Georgia"/>
                <a:cs typeface="Georgia"/>
                <a:sym typeface="Georgia"/>
              </a:rPr>
              <a:t>04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280160" y="4315968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3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Volatility Assessment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1280160" y="4572000"/>
            <a:ext cx="7223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IQR/Median ratio calculated to identify price stability and market homogeneity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8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Service Infrastructure Mapping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0" name="Google Shape;13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88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8"/>
          <p:cNvSpPr/>
          <p:nvPr/>
        </p:nvSpPr>
        <p:spPr>
          <a:xfrm>
            <a:off x="1188720" y="1280160"/>
            <a:ext cx="7498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Evaluating livability through comprehensive service availability assessment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457200" y="1737360"/>
            <a:ext cx="3931920" cy="2743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731520" y="192024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Essential Services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731520" y="237744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📚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188720" y="240487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5F5D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188720" y="2560320"/>
            <a:ext cx="2743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Primary &amp; elementary levels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731520" y="288036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🏥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1188720" y="290779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5F5D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188720" y="3063240"/>
            <a:ext cx="2743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Medical facilities 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731520" y="338328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🚌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1188720" y="341071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5F5D"/>
                </a:solidFill>
                <a:latin typeface="Calibri"/>
                <a:ea typeface="Calibri"/>
                <a:cs typeface="Calibri"/>
                <a:sym typeface="Calibri"/>
              </a:rPr>
              <a:t>Transport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188720" y="3566160"/>
            <a:ext cx="2743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Public mobility options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731520" y="388620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🛒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1188720" y="3913632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5F5D"/>
                </a:solidFill>
                <a:latin typeface="Calibri"/>
                <a:ea typeface="Calibri"/>
                <a:cs typeface="Calibri"/>
                <a:sym typeface="Calibri"/>
              </a:rPr>
              <a:t>Commerce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1188720" y="4069080"/>
            <a:ext cx="2743200" cy="137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Essential retail services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754880" y="1737360"/>
            <a:ext cx="3931920" cy="2743200"/>
          </a:xfrm>
          <a:prstGeom prst="rect">
            <a:avLst/>
          </a:prstGeom>
          <a:solidFill>
            <a:srgbClr val="8BA888">
              <a:alpha val="8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5029200" y="201168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National Coverage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669280" y="2331720"/>
            <a:ext cx="2103120" cy="1828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5029200" y="25603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888"/>
              </a:buClr>
              <a:buSzPts val="4000"/>
              <a:buFont typeface="Georgia"/>
              <a:buNone/>
            </a:pPr>
            <a:r>
              <a:rPr b="1" i="0" lang="en-US" sz="40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35,000+</a:t>
            </a:r>
            <a:endParaRPr b="0" i="0" sz="4000" u="none" cap="none" strike="noStrike">
              <a:solidFill>
                <a:srgbClr val="2D5F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5029200" y="3063240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2D5F5D"/>
                </a:solidFill>
                <a:latin typeface="Calibri"/>
                <a:ea typeface="Calibri"/>
                <a:cs typeface="Calibri"/>
                <a:sym typeface="Calibri"/>
              </a:rPr>
              <a:t>Geographic Codes</a:t>
            </a:r>
            <a:endParaRPr b="0" i="0" sz="1100" u="none" cap="none" strike="noStrike">
              <a:solidFill>
                <a:srgbClr val="2D5F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5029200" y="3383280"/>
            <a:ext cx="33832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5212080" y="35204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5F5D"/>
                </a:solidFill>
                <a:latin typeface="Calibri"/>
                <a:ea typeface="Calibri"/>
                <a:cs typeface="Calibri"/>
                <a:sym typeface="Calibri"/>
              </a:rPr>
              <a:t>100% Coverage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212080" y="3794760"/>
            <a:ext cx="3017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Service Density Score computed for every municipality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Technical Challenges &amp; Solutions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457200" y="1280160"/>
            <a:ext cx="8229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457200" y="1280160"/>
            <a:ext cx="45720" cy="1371600"/>
          </a:xfrm>
          <a:prstGeom prst="rect">
            <a:avLst/>
          </a:prstGeom>
          <a:solidFill>
            <a:srgbClr val="E8B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731520" y="1463040"/>
            <a:ext cx="7680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Initial Challenges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731520" y="1783080"/>
            <a:ext cx="7680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Empty dataset from initial cross-analysis attempt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Granularity mismatch between IRIS-level services and municipality-level pricing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Geographic code format inconsistencies across datasets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457200" y="2834640"/>
            <a:ext cx="822960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457200" y="2834640"/>
            <a:ext cx="45720" cy="1645920"/>
          </a:xfrm>
          <a:prstGeom prst="rect">
            <a:avLst/>
          </a:prstGeom>
          <a:solidFill>
            <a:srgbClr val="8BA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29718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/>
          <p:nvPr/>
        </p:nvSpPr>
        <p:spPr>
          <a:xfrm>
            <a:off x="1097280" y="3017520"/>
            <a:ext cx="7406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Strategic Resolution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731520" y="3337560"/>
            <a:ext cx="76809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Adopted municipality-centered strategy ensuring consistent granularity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Filtered BPE database to retain only 5-digit municipality codes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Standardized all geographic code formats across datasets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Implemented Python extraction via SQLAlchemy/Pandas to bypass GUI limitations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AutoNum type="arabicPeriod"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Successfully captured complete 22,154 records including previously excluded regions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End-to-End Data Pipeline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457200" y="1280160"/>
            <a:ext cx="3840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457200" y="1280160"/>
            <a:ext cx="45720" cy="822960"/>
          </a:xfrm>
          <a:prstGeom prst="rect">
            <a:avLst/>
          </a:prstGeom>
          <a:solidFill>
            <a:srgbClr val="2D5F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685800" y="1508760"/>
            <a:ext cx="365760" cy="365760"/>
          </a:xfrm>
          <a:prstGeom prst="ellipse">
            <a:avLst/>
          </a:prstGeom>
          <a:solidFill>
            <a:srgbClr val="2D5F5D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685800" y="15544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1188720" y="146304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3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Data Extraction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1188720" y="173736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DVF (18M+) &amp; BPE (35K+)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4846320" y="1280160"/>
            <a:ext cx="3840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4846320" y="1280160"/>
            <a:ext cx="45720" cy="822960"/>
          </a:xfrm>
          <a:prstGeom prst="rect">
            <a:avLst/>
          </a:prstGeom>
          <a:solidFill>
            <a:srgbClr val="8BA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5074920" y="1508760"/>
            <a:ext cx="365760" cy="365760"/>
          </a:xfrm>
          <a:prstGeom prst="ellipse">
            <a:avLst/>
          </a:prstGeom>
          <a:solidFill>
            <a:srgbClr val="8BA88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5074920" y="155448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88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1600" u="none" cap="none" strike="noStrike">
              <a:solidFill>
                <a:srgbClr val="2D5F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5577840" y="146304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3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Cleaning &amp; Filtering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5577840" y="173736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Outliers &amp; null handling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457200" y="2377440"/>
            <a:ext cx="3840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457200" y="2377440"/>
            <a:ext cx="45720" cy="82296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685800" y="2606040"/>
            <a:ext cx="365760" cy="365760"/>
          </a:xfrm>
          <a:prstGeom prst="ellipse">
            <a:avLst/>
          </a:prstGeom>
          <a:solidFill>
            <a:srgbClr val="D4A574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685800" y="2651760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574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E69138"/>
                </a:solidFill>
                <a:latin typeface="Georgia"/>
                <a:ea typeface="Georgia"/>
                <a:cs typeface="Georgia"/>
                <a:sym typeface="Georgia"/>
              </a:rPr>
              <a:t>3</a:t>
            </a:r>
            <a:endParaRPr b="0" i="0" sz="1600" u="none" cap="none" strike="noStrike">
              <a:solidFill>
                <a:srgbClr val="E691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1188720" y="25603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3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Categorization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1188720" y="283464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Plot size segmentation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4846320" y="2377440"/>
            <a:ext cx="3840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4846320" y="2377440"/>
            <a:ext cx="45720" cy="822960"/>
          </a:xfrm>
          <a:prstGeom prst="rect">
            <a:avLst/>
          </a:prstGeom>
          <a:solidFill>
            <a:srgbClr val="E8B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5074920" y="2606040"/>
            <a:ext cx="365760" cy="365760"/>
          </a:xfrm>
          <a:prstGeom prst="ellipse">
            <a:avLst/>
          </a:prstGeom>
          <a:solidFill>
            <a:srgbClr val="E8B4B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5074920" y="26517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4B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DD7E6B"/>
                </a:solidFill>
                <a:latin typeface="Georgia"/>
                <a:ea typeface="Georgia"/>
                <a:cs typeface="Georgia"/>
                <a:sym typeface="Georgia"/>
              </a:rPr>
              <a:t>4</a:t>
            </a:r>
            <a:endParaRPr b="0" i="0" sz="1600" u="none" cap="none" strike="noStrike">
              <a:solidFill>
                <a:srgbClr val="DD7E6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5577840" y="25603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3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Aggregation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5577840" y="283464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Median price calculation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457200" y="3474720"/>
            <a:ext cx="3840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57200" y="3474720"/>
            <a:ext cx="45720" cy="822960"/>
          </a:xfrm>
          <a:prstGeom prst="rect">
            <a:avLst/>
          </a:prstGeom>
          <a:solidFill>
            <a:srgbClr val="2D5F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685800" y="3703320"/>
            <a:ext cx="365760" cy="365760"/>
          </a:xfrm>
          <a:prstGeom prst="ellipse">
            <a:avLst/>
          </a:prstGeom>
          <a:solidFill>
            <a:srgbClr val="2D5F5D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685800" y="37490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1188720" y="36576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3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Service Integration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1188720" y="39319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BPE mapping &amp; scoring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846320" y="3474720"/>
            <a:ext cx="384048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4846320" y="3474720"/>
            <a:ext cx="45720" cy="822960"/>
          </a:xfrm>
          <a:prstGeom prst="rect">
            <a:avLst/>
          </a:prstGeom>
          <a:solidFill>
            <a:srgbClr val="8BA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5074920" y="3703320"/>
            <a:ext cx="365760" cy="365760"/>
          </a:xfrm>
          <a:prstGeom prst="ellipse">
            <a:avLst/>
          </a:prstGeom>
          <a:solidFill>
            <a:srgbClr val="8BA88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5074920" y="374904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888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6</a:t>
            </a:r>
            <a:endParaRPr b="0" i="0" sz="1600" u="none" cap="none" strike="noStrike">
              <a:solidFill>
                <a:srgbClr val="2D5F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5577840" y="365760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3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Final Dataset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577840" y="3931920"/>
            <a:ext cx="29260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Optimized analytical DB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Key Insights &amp; Deliverables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0" name="Google Shape;22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1887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1"/>
          <p:cNvSpPr/>
          <p:nvPr/>
        </p:nvSpPr>
        <p:spPr>
          <a:xfrm>
            <a:off x="1188720" y="1280160"/>
            <a:ext cx="74980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Mission Accomplished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457200" y="173736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1"/>
          <p:cNvSpPr/>
          <p:nvPr/>
        </p:nvSpPr>
        <p:spPr>
          <a:xfrm>
            <a:off x="457200" y="1737360"/>
            <a:ext cx="45720" cy="685800"/>
          </a:xfrm>
          <a:prstGeom prst="rect">
            <a:avLst/>
          </a:prstGeom>
          <a:solidFill>
            <a:srgbClr val="2D5F5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731520" y="184708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3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Geographic Sweet Spots Identified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731520" y="2103120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Mapped municipalities where land costs ≤ €50/m² align with service infrastructure requirements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457200" y="2560320"/>
            <a:ext cx="45720" cy="685800"/>
          </a:xfrm>
          <a:prstGeom prst="rect">
            <a:avLst/>
          </a:prstGeom>
          <a:solidFill>
            <a:srgbClr val="8BA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"/>
          <p:cNvSpPr/>
          <p:nvPr/>
        </p:nvSpPr>
        <p:spPr>
          <a:xfrm>
            <a:off x="731520" y="267004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3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Financial Viability Framework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731520" y="2926080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Integrated 30% debt-to-income ratio with left-to-live income optimization modeling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457200" y="338328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"/>
          <p:cNvSpPr/>
          <p:nvPr/>
        </p:nvSpPr>
        <p:spPr>
          <a:xfrm>
            <a:off x="457200" y="3383280"/>
            <a:ext cx="45720" cy="68580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731520" y="349300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3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Service Density Scoring System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/>
          <p:nvPr/>
        </p:nvSpPr>
        <p:spPr>
          <a:xfrm>
            <a:off x="731520" y="3749040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Comprehensive municipal attractiveness index based on essential service availability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"/>
          <p:cNvSpPr/>
          <p:nvPr/>
        </p:nvSpPr>
        <p:spPr>
          <a:xfrm>
            <a:off x="457200" y="4206240"/>
            <a:ext cx="45720" cy="685800"/>
          </a:xfrm>
          <a:prstGeom prst="rect">
            <a:avLst/>
          </a:prstGeom>
          <a:solidFill>
            <a:srgbClr val="E8B4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"/>
          <p:cNvSpPr/>
          <p:nvPr/>
        </p:nvSpPr>
        <p:spPr>
          <a:xfrm>
            <a:off x="731520" y="4315968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3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Scalable Analytical Methodology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731520" y="4572000"/>
            <a:ext cx="7680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Established replicable pipeline applicable to future market expansion studies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Context &amp; Core Hypothesis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457200" y="1280160"/>
            <a:ext cx="393192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457200" y="1280160"/>
            <a:ext cx="3931920" cy="457200"/>
          </a:xfrm>
          <a:prstGeom prst="rect">
            <a:avLst/>
          </a:prstGeom>
          <a:solidFill>
            <a:srgbClr val="E8B4B8">
              <a:alpha val="6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47" name="Google Shape;24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17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2"/>
          <p:cNvSpPr/>
          <p:nvPr/>
        </p:nvSpPr>
        <p:spPr>
          <a:xfrm>
            <a:off x="1188720" y="14630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The Housing Challenge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731520" y="192024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Low-income households face a critical affordability crisis. Traditional rental markets consume disproportionate shares of income, leaving minimal disposable funds and limiting financial mobility.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731520" y="3017520"/>
            <a:ext cx="3383280" cy="1097280"/>
          </a:xfrm>
          <a:prstGeom prst="rect">
            <a:avLst/>
          </a:prstGeom>
          <a:solidFill>
            <a:srgbClr val="F5EF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731520" y="32004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Disposable Income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731520" y="34747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Significantly Reduced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4754880" y="1280160"/>
            <a:ext cx="3931920" cy="3108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4754880" y="1280160"/>
            <a:ext cx="3931920" cy="457200"/>
          </a:xfrm>
          <a:prstGeom prst="rect">
            <a:avLst/>
          </a:prstGeom>
          <a:solidFill>
            <a:srgbClr val="8BA888">
              <a:alpha val="6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5" name="Google Shape;25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29200" y="141732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2"/>
          <p:cNvSpPr/>
          <p:nvPr/>
        </p:nvSpPr>
        <p:spPr>
          <a:xfrm>
            <a:off x="5486400" y="146304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Our Solution Hypothesis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5029200" y="1920240"/>
            <a:ext cx="33832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Modular housing ownership through Tiny Houses and Container homes can significantly increase household left-to-live income compared to traditional rental arrangements, while maintaining responsible 30% debt-to-income ratios.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5029200" y="3017520"/>
            <a:ext cx="3383280" cy="1097280"/>
          </a:xfrm>
          <a:prstGeom prst="rect">
            <a:avLst/>
          </a:prstGeom>
          <a:solidFill>
            <a:srgbClr val="D4A574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5029200" y="320040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Target Land Cost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5029200" y="34747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574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D4A574"/>
                </a:solidFill>
                <a:latin typeface="Georgia"/>
                <a:ea typeface="Georgia"/>
                <a:cs typeface="Georgia"/>
                <a:sym typeface="Georgia"/>
              </a:rPr>
              <a:t>≤ €50/m²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Market Reality: The €50/m² </a:t>
            </a:r>
            <a:r>
              <a:rPr b="1" lang="en-US" sz="3200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c</a:t>
            </a:r>
            <a:r>
              <a:rPr b="1" i="0" lang="en-US" sz="32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hallenge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"/>
          <p:cNvSpPr/>
          <p:nvPr/>
        </p:nvSpPr>
        <p:spPr>
          <a:xfrm>
            <a:off x="457200" y="1280160"/>
            <a:ext cx="45720" cy="1188720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0" name="Google Shape;2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63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3"/>
          <p:cNvSpPr/>
          <p:nvPr/>
        </p:nvSpPr>
        <p:spPr>
          <a:xfrm>
            <a:off x="1280160" y="1508760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The €50/m² Constraint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1280160" y="187452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Our analysis reveals that parcels at or below €50/m² with adequate public transport infrastructure do not currently exist in the French market. This price point, while ideal for modular housing economics, represents a threshold below current market realities even in rural areas with basic service access.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Market Segmentation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457200" y="2880360"/>
            <a:ext cx="8229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8C8D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7F8C8D"/>
                </a:solidFill>
                <a:latin typeface="Calibri"/>
                <a:ea typeface="Calibri"/>
                <a:cs typeface="Calibri"/>
                <a:sym typeface="Calibri"/>
              </a:rPr>
              <a:t>Based on Tableau analysis of land price distributions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3"/>
          <p:cNvSpPr/>
          <p:nvPr/>
        </p:nvSpPr>
        <p:spPr>
          <a:xfrm>
            <a:off x="457200" y="320040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457200" y="3200400"/>
            <a:ext cx="2743200" cy="365760"/>
          </a:xfrm>
          <a:prstGeom prst="rect">
            <a:avLst/>
          </a:prstGeom>
          <a:solidFill>
            <a:srgbClr val="8BA88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640080" y="333756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88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Idéal</a:t>
            </a:r>
            <a:endParaRPr b="0" i="0" sz="1500" u="none" cap="none" strike="noStrike">
              <a:solidFill>
                <a:srgbClr val="2D5F5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640080" y="37033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≤ €400/m²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640080" y="4069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Target range for financially viable modular housing projects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3291840" y="320040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3291840" y="3200400"/>
            <a:ext cx="2743200" cy="365760"/>
          </a:xfrm>
          <a:prstGeom prst="rect">
            <a:avLst/>
          </a:prstGeom>
          <a:solidFill>
            <a:srgbClr val="D4A574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3474720" y="333756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574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BF9000"/>
                </a:solidFill>
                <a:latin typeface="Georgia"/>
                <a:ea typeface="Georgia"/>
                <a:cs typeface="Georgia"/>
                <a:sym typeface="Georgia"/>
              </a:rPr>
              <a:t>Tendu</a:t>
            </a:r>
            <a:endParaRPr b="0" i="0" sz="1500" u="none" cap="none" strike="noStrike">
              <a:solidFill>
                <a:srgbClr val="BF9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/>
          <p:nvPr/>
        </p:nvSpPr>
        <p:spPr>
          <a:xfrm>
            <a:off x="3474720" y="37033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€400 - €900/m²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3"/>
          <p:cNvSpPr/>
          <p:nvPr/>
        </p:nvSpPr>
        <p:spPr>
          <a:xfrm>
            <a:off x="3474720" y="4069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Challenging but potentially feasible with careful optimization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6126480" y="3200400"/>
            <a:ext cx="27432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6126480" y="3200400"/>
            <a:ext cx="2743200" cy="365760"/>
          </a:xfrm>
          <a:prstGeom prst="rect">
            <a:avLst/>
          </a:prstGeom>
          <a:solidFill>
            <a:srgbClr val="E8B4B8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6309360" y="333756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4B8"/>
              </a:buClr>
              <a:buSzPts val="1500"/>
              <a:buFont typeface="Georgia"/>
              <a:buNone/>
            </a:pPr>
            <a:r>
              <a:rPr b="1" i="0" lang="en-US" sz="1500" u="none" cap="none" strike="noStrike">
                <a:solidFill>
                  <a:srgbClr val="C27BA0"/>
                </a:solidFill>
                <a:latin typeface="Georgia"/>
                <a:ea typeface="Georgia"/>
                <a:cs typeface="Georgia"/>
                <a:sym typeface="Georgia"/>
              </a:rPr>
              <a:t>Hors Budget</a:t>
            </a:r>
            <a:endParaRPr b="0" i="0" sz="1500" u="none" cap="none" strike="noStrike">
              <a:solidFill>
                <a:srgbClr val="C27B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3"/>
          <p:cNvSpPr/>
          <p:nvPr/>
        </p:nvSpPr>
        <p:spPr>
          <a:xfrm>
            <a:off x="6309360" y="37033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&gt; €900/m²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3"/>
          <p:cNvSpPr/>
          <p:nvPr/>
        </p:nvSpPr>
        <p:spPr>
          <a:xfrm>
            <a:off x="6309360" y="4069080"/>
            <a:ext cx="2377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Beyond modular housing economic viability threshold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0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"/>
          <p:cNvSpPr/>
          <p:nvPr/>
        </p:nvSpPr>
        <p:spPr>
          <a:xfrm>
            <a:off x="457200" y="91419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Strategic Opportunity: Below-Median Acquisitions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457200" y="914400"/>
            <a:ext cx="1371600" cy="27432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457200" y="1280160"/>
            <a:ext cx="45720" cy="1188720"/>
          </a:xfrm>
          <a:prstGeom prst="rect">
            <a:avLst/>
          </a:prstGeom>
          <a:solidFill>
            <a:srgbClr val="8BA8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9" name="Google Shape;29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14630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4"/>
          <p:cNvSpPr/>
          <p:nvPr/>
        </p:nvSpPr>
        <p:spPr>
          <a:xfrm>
            <a:off x="1280160" y="1508760"/>
            <a:ext cx="7223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Below-Median Strategy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1280160" y="1874520"/>
            <a:ext cx="7223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200"/>
              <a:buFont typeface="Calibri"/>
              <a:buNone/>
            </a:pPr>
            <a:r>
              <a:rPr b="0" i="0" lang="en-US" sz="11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While absolute price thresholds prove challenging, a relative pricing strategy reveals significant opportunities. Throughout France—including competitive Île-de-France markets—parcels are available below local median prices. This approach enables modular housing deployment by targeting undervalued parcels within each municipality's price distribution.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National Coverage Confirmed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457200" y="3017520"/>
            <a:ext cx="393192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4" name="Google Shape;30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" y="3200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4"/>
          <p:cNvSpPr/>
          <p:nvPr/>
        </p:nvSpPr>
        <p:spPr>
          <a:xfrm>
            <a:off x="1188720" y="324612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A888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8BA888"/>
                </a:solidFill>
                <a:latin typeface="Georgia"/>
                <a:ea typeface="Georgia"/>
                <a:cs typeface="Georgia"/>
                <a:sym typeface="Georgia"/>
              </a:rPr>
              <a:t>Relative Pricing Approach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731520" y="3611880"/>
            <a:ext cx="3383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Municipality-specific median calculation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Identification of below-median parcels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Service density cross-reference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Transaction volume validation (≥5)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4754880" y="3017520"/>
            <a:ext cx="3931920" cy="1463040"/>
          </a:xfrm>
          <a:prstGeom prst="rect">
            <a:avLst/>
          </a:prstGeom>
          <a:solidFill>
            <a:srgbClr val="8BA888">
              <a:alpha val="8470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8" name="Google Shape;30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29200" y="3200400"/>
            <a:ext cx="320040" cy="32004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4"/>
          <p:cNvSpPr/>
          <p:nvPr/>
        </p:nvSpPr>
        <p:spPr>
          <a:xfrm>
            <a:off x="5486400" y="3246120"/>
            <a:ext cx="3017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400"/>
              <a:buFont typeface="Georgia"/>
              <a:buNone/>
            </a:pPr>
            <a:r>
              <a:rPr b="1" i="0" lang="en-US" sz="1400" u="none" cap="none" strike="noStrike">
                <a:solidFill>
                  <a:srgbClr val="2D5F5D"/>
                </a:solidFill>
                <a:latin typeface="Georgia"/>
                <a:ea typeface="Georgia"/>
                <a:cs typeface="Georgia"/>
                <a:sym typeface="Georgia"/>
              </a:rPr>
              <a:t>Nationwide Viability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5029200" y="3611880"/>
            <a:ext cx="338328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5212080" y="370332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A888"/>
                </a:solidFill>
                <a:latin typeface="Calibri"/>
                <a:ea typeface="Calibri"/>
                <a:cs typeface="Calibri"/>
                <a:sym typeface="Calibri"/>
              </a:rPr>
              <a:t>Every Region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6812280" y="3703320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A88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A888"/>
                </a:solidFill>
                <a:latin typeface="Calibri"/>
                <a:ea typeface="Calibri"/>
                <a:cs typeface="Calibri"/>
                <a:sym typeface="Calibri"/>
              </a:rPr>
              <a:t>Including Île-de-France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5212080" y="397764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Below-median opportunities exist in all French regions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6812280" y="3977640"/>
            <a:ext cx="1508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2C3E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2C3E50"/>
                </a:solidFill>
                <a:latin typeface="Calibri"/>
                <a:ea typeface="Calibri"/>
                <a:cs typeface="Calibri"/>
                <a:sym typeface="Calibri"/>
              </a:rPr>
              <a:t>Even competitive urban markets show viable parcels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D4A574">
              <a:alpha val="8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4"/>
          <p:cNvSpPr/>
          <p:nvPr/>
        </p:nvSpPr>
        <p:spPr>
          <a:xfrm>
            <a:off x="731520" y="4709160"/>
            <a:ext cx="7680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5F5D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D5F5D"/>
                </a:solidFill>
                <a:latin typeface="Calibri"/>
                <a:ea typeface="Calibri"/>
                <a:cs typeface="Calibri"/>
                <a:sym typeface="Calibri"/>
              </a:rPr>
              <a:t>Strategic Implication: Focus on relative value within local markets rather than absolute price thresholds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D5F5D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8BA888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solidFill>
            <a:srgbClr val="D4A574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86200" y="109728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5"/>
          <p:cNvSpPr/>
          <p:nvPr/>
        </p:nvSpPr>
        <p:spPr>
          <a:xfrm>
            <a:off x="457200" y="26517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Georgia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Next Steps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/>
          <p:nvPr/>
        </p:nvSpPr>
        <p:spPr>
          <a:xfrm>
            <a:off x="3200400" y="3200400"/>
            <a:ext cx="2743200" cy="18288"/>
          </a:xfrm>
          <a:prstGeom prst="rect">
            <a:avLst/>
          </a:prstGeom>
          <a:solidFill>
            <a:srgbClr val="D4A57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1828800" y="3474720"/>
            <a:ext cx="5486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5EFE6"/>
              </a:buClr>
              <a:buSzPts val="1300"/>
              <a:buFont typeface="Calibri"/>
              <a:buAutoNum type="arabicPeriod"/>
            </a:pPr>
            <a:r>
              <a:rPr b="0" i="0" lang="en-US" sz="1300" u="none" cap="none" strike="noStrike">
                <a:solidFill>
                  <a:srgbClr val="F5EFE6"/>
                </a:solidFill>
                <a:latin typeface="Calibri"/>
                <a:ea typeface="Calibri"/>
                <a:cs typeface="Calibri"/>
                <a:sym typeface="Calibri"/>
              </a:rPr>
              <a:t>Field validation of target municipalities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5EFE6"/>
              </a:buClr>
              <a:buSzPts val="1300"/>
              <a:buFont typeface="Calibri"/>
              <a:buAutoNum type="arabicPeriod"/>
            </a:pPr>
            <a:r>
              <a:rPr b="0" i="0" lang="en-US" sz="1300" u="none" cap="none" strike="noStrike">
                <a:solidFill>
                  <a:srgbClr val="F5EFE6"/>
                </a:solidFill>
                <a:latin typeface="Calibri"/>
                <a:ea typeface="Calibri"/>
                <a:cs typeface="Calibri"/>
                <a:sym typeface="Calibri"/>
              </a:rPr>
              <a:t>Development of financial simulation models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5EFE6"/>
              </a:buClr>
              <a:buSzPts val="1300"/>
              <a:buFont typeface="Calibri"/>
              <a:buAutoNum type="arabicPeriod"/>
            </a:pPr>
            <a:r>
              <a:rPr b="0" i="0" lang="en-US" sz="1300" u="none" cap="none" strike="noStrike">
                <a:solidFill>
                  <a:srgbClr val="F5EFE6"/>
                </a:solidFill>
                <a:latin typeface="Calibri"/>
                <a:ea typeface="Calibri"/>
                <a:cs typeface="Calibri"/>
                <a:sym typeface="Calibri"/>
              </a:rPr>
              <a:t>Engagement with local authorities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23076"/>
              </a:lnSpc>
              <a:spcBef>
                <a:spcPts val="0"/>
              </a:spcBef>
              <a:spcAft>
                <a:spcPts val="0"/>
              </a:spcAft>
              <a:buClr>
                <a:srgbClr val="F5EFE6"/>
              </a:buClr>
              <a:buSzPts val="1300"/>
              <a:buFont typeface="Calibri"/>
              <a:buAutoNum type="arabicPeriod"/>
            </a:pPr>
            <a:r>
              <a:rPr b="0" i="0" lang="en-US" sz="1300" u="none" cap="none" strike="noStrike">
                <a:solidFill>
                  <a:srgbClr val="F5EFE6"/>
                </a:solidFill>
                <a:latin typeface="Calibri"/>
                <a:ea typeface="Calibri"/>
                <a:cs typeface="Calibri"/>
                <a:sym typeface="Calibri"/>
              </a:rPr>
              <a:t>Pilot project scoping in top-ranked zones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D4A574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D4A574"/>
                </a:solidFill>
                <a:latin typeface="Georgia"/>
                <a:ea typeface="Georgia"/>
                <a:cs typeface="Georgia"/>
                <a:sym typeface="Georgia"/>
              </a:rPr>
              <a:t>Questions &amp; Discussion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